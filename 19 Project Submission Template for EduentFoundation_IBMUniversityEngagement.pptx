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7" r:id="rId5"/>
    <p:sldId id="284" r:id="rId6"/>
    <p:sldId id="285" r:id="rId7"/>
    <p:sldId id="281" r:id="rId8"/>
    <p:sldId id="279" r:id="rId9"/>
    <p:sldId id="288" r:id="rId10"/>
    <p:sldId id="289" r:id="rId11"/>
    <p:sldId id="291" r:id="rId12"/>
    <p:sldId id="290" r:id="rId13"/>
    <p:sldId id="262" r:id="rId14"/>
    <p:sldId id="264" r:id="rId15"/>
    <p:sldId id="278" r:id="rId16"/>
    <p:sldId id="286" r:id="rId17"/>
    <p:sldId id="277" r:id="rId18"/>
    <p:sldId id="280"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AA72025-7142-D0F8-7A27-1E8252DCE4AB}"/>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6CB0E4B5-6915-8BF2-968F-F7CA49A170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A7C175A3-B242-4EB4-D555-2285074BD9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2469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DFFF805E-7744-76E5-2FC4-9AC50EF0220C}"/>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4C8B898A-3675-7753-8AF5-C3E909FE7A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6B61637D-93B7-5033-2413-8327FEFCB8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608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41BF17-05C8-3EC5-116E-7087097C3EA8}"/>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CB5BBEF-51B4-419A-9386-530F688C5B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7B229981-C327-9602-1C78-A7235D82EB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272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0B1FF29A-7F9E-F248-B970-033FFA65951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64ACBC5-DDB5-D82E-0E14-864BCC8EBE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927A2F4E-6D8E-D5AA-276D-8C69233304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3490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C2D1C6F0-8034-06F8-4373-3DC675CB22A7}"/>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C4A25A-A6F5-686F-405E-7B481898E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1720FBF7-C89F-107E-9B30-7E7DDAB0BC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888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dhirenjoshi7@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djrocks85/FDP-IBM-BVM-DHIRENKUMAR-JOSHI/upload/main"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616945066"/>
              </p:ext>
            </p:extLst>
          </p:nvPr>
        </p:nvGraphicFramePr>
        <p:xfrm>
          <a:off x="1299257" y="2600314"/>
          <a:ext cx="9571944" cy="2713365"/>
        </p:xfrm>
        <a:graphic>
          <a:graphicData uri="http://schemas.openxmlformats.org/drawingml/2006/table">
            <a:tbl>
              <a:tblPr>
                <a:noFill/>
                <a:tableStyleId>{0AAD8F4D-43EB-41E5-8A38-28AB6DFB1B60}</a:tableStyleId>
              </a:tblPr>
              <a:tblGrid>
                <a:gridCol w="2103759">
                  <a:extLst>
                    <a:ext uri="{9D8B030D-6E8A-4147-A177-3AD203B41FA5}">
                      <a16:colId xmlns:a16="http://schemas.microsoft.com/office/drawing/2014/main" val="20000"/>
                    </a:ext>
                  </a:extLst>
                </a:gridCol>
                <a:gridCol w="2489395">
                  <a:extLst>
                    <a:ext uri="{9D8B030D-6E8A-4147-A177-3AD203B41FA5}">
                      <a16:colId xmlns:a16="http://schemas.microsoft.com/office/drawing/2014/main" val="20002"/>
                    </a:ext>
                  </a:extLst>
                </a:gridCol>
                <a:gridCol w="2489395">
                  <a:extLst>
                    <a:ext uri="{9D8B030D-6E8A-4147-A177-3AD203B41FA5}">
                      <a16:colId xmlns:a16="http://schemas.microsoft.com/office/drawing/2014/main" val="20003"/>
                    </a:ext>
                  </a:extLst>
                </a:gridCol>
                <a:gridCol w="2489395">
                  <a:extLst>
                    <a:ext uri="{9D8B030D-6E8A-4147-A177-3AD203B41FA5}">
                      <a16:colId xmlns:a16="http://schemas.microsoft.com/office/drawing/2014/main" val="20004"/>
                    </a:ext>
                  </a:extLst>
                </a:gridCol>
              </a:tblGrid>
              <a:tr h="121854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94818">
                <a:tc>
                  <a:txBody>
                    <a:bodyPr/>
                    <a:lstStyle/>
                    <a:p>
                      <a:pPr marL="0" marR="0" lvl="0" indent="0" algn="ctr" rtl="0">
                        <a:spcBef>
                          <a:spcPts val="0"/>
                        </a:spcBef>
                        <a:spcAft>
                          <a:spcPts val="0"/>
                        </a:spcAft>
                        <a:buNone/>
                      </a:pPr>
                      <a:r>
                        <a:rPr lang="en-IN" dirty="0"/>
                        <a:t>DHIRENKUMAR HARESHBHAI JOSHI</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sz="1800"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hlinkClick r:id="rId3"/>
                        </a:rPr>
                        <a:t>dhirenjoshi7@gmail.com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9033822624</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Manufacturing</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The Manufacturing Process Quality Control</a:t>
            </a:r>
          </a:p>
          <a:p>
            <a:r>
              <a:rPr lang="en-US" sz="2400" b="1" dirty="0"/>
              <a:t>Agent</a:t>
            </a:r>
            <a:endParaRPr lang="en-IN" sz="2400" b="1" dirty="0">
              <a:highlight>
                <a:srgbClr val="FFFF00"/>
              </a:highlight>
            </a:endParaRPr>
          </a:p>
        </p:txBody>
      </p:sp>
      <p:pic>
        <p:nvPicPr>
          <p:cNvPr id="3" name="Picture 2">
            <a:extLst>
              <a:ext uri="{FF2B5EF4-FFF2-40B4-BE49-F238E27FC236}">
                <a16:creationId xmlns:a16="http://schemas.microsoft.com/office/drawing/2014/main" id="{8B50000B-DEEF-496E-5AAD-641D72428B91}"/>
              </a:ext>
            </a:extLst>
          </p:cNvPr>
          <p:cNvPicPr>
            <a:picLocks noChangeAspect="1"/>
          </p:cNvPicPr>
          <p:nvPr/>
        </p:nvPicPr>
        <p:blipFill>
          <a:blip r:embed="rId4"/>
          <a:stretch>
            <a:fillRect/>
          </a:stretch>
        </p:blipFill>
        <p:spPr>
          <a:xfrm>
            <a:off x="4193224" y="4110490"/>
            <a:ext cx="663256" cy="8290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216539"/>
          </a:xfrm>
          <a:prstGeom prst="rect">
            <a:avLst/>
          </a:prstGeom>
          <a:noFill/>
        </p:spPr>
        <p:txBody>
          <a:bodyPr wrap="square" rtlCol="0">
            <a:spAutoFit/>
          </a:bodyPr>
          <a:lstStyle/>
          <a:p>
            <a:pPr fontAlgn="base"/>
            <a:r>
              <a:rPr lang="en-US" sz="1800" b="1" dirty="0">
                <a:latin typeface="+mn-lt"/>
                <a:cs typeface="Times New Roman" panose="02020603050405020304" pitchFamily="18" charset="0"/>
              </a:rPr>
              <a:t>Problem Statement : Quality Control Agent</a:t>
            </a:r>
            <a:endParaRPr lang="en-US" sz="1800" dirty="0">
              <a:latin typeface="+mn-lt"/>
              <a:cs typeface="Times New Roman" panose="02020603050405020304" pitchFamily="18" charset="0"/>
            </a:endParaRPr>
          </a:p>
          <a:p>
            <a:pPr fontAlgn="base"/>
            <a:endParaRPr lang="en-US" sz="1800" b="1" dirty="0">
              <a:latin typeface="+mn-lt"/>
              <a:cs typeface="Times New Roman" panose="02020603050405020304" pitchFamily="18" charset="0"/>
            </a:endParaRPr>
          </a:p>
          <a:p>
            <a:pPr fontAlgn="base"/>
            <a:r>
              <a:rPr lang="en-US" sz="2000" b="1" dirty="0">
                <a:latin typeface="+mn-lt"/>
                <a:cs typeface="Times New Roman" panose="02020603050405020304" pitchFamily="18" charset="0"/>
              </a:rPr>
              <a:t>The Challenge</a:t>
            </a:r>
          </a:p>
          <a:p>
            <a:pPr algn="just" fontAlgn="base"/>
            <a:r>
              <a:rPr lang="en-US" sz="1800" dirty="0">
                <a:latin typeface="+mn-lt"/>
                <a:cs typeface="Times New Roman" panose="02020603050405020304" pitchFamily="18" charset="0"/>
              </a:rPr>
              <a:t>In modern manufacturing industries, maintaining consistent product quality is critical for customer satisfaction, safety, and regulatory compliance. However, manufacturing processes often involve multiple machines, materials, and environmental conditions that can affect product quality. Small variations in temperature, pressure, machine calibration, or material properties can lead to defects such as dimensional inaccuracies, surface imperfections, or structural weaknesses. Traditional quality control methods rely heavily on manual inspection or periodic sampling, which may fail to detect defects early in the production process. As production volumes increase, manual inspection becomes inefficient and prone to human error. Manufacturers require intelligent systems that can continuously monitor production parameters, detect anomalies, and predict quality issues </a:t>
            </a:r>
            <a:r>
              <a:rPr lang="en-US" sz="1800" dirty="0" err="1">
                <a:latin typeface="+mn-lt"/>
                <a:cs typeface="Times New Roman" panose="02020603050405020304" pitchFamily="18" charset="0"/>
              </a:rPr>
              <a:t>beforedefective</a:t>
            </a:r>
            <a:r>
              <a:rPr lang="en-US" sz="1800" dirty="0">
                <a:latin typeface="+mn-lt"/>
                <a:cs typeface="Times New Roman" panose="02020603050405020304" pitchFamily="18" charset="0"/>
              </a:rPr>
              <a:t> products are produced.</a:t>
            </a:r>
          </a:p>
          <a:p>
            <a:endParaRPr lang="en-IN" sz="1800" dirty="0">
              <a:latin typeface="+mn-lt"/>
              <a:cs typeface="Times New Roman" panose="02020603050405020304" pitchFamily="18" charset="0"/>
            </a:endParaRPr>
          </a:p>
          <a:p>
            <a:endParaRPr lang="en-IN" dirty="0">
              <a:latin typeface="+mn-lt"/>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683768"/>
            <a:ext cx="10607040" cy="830997"/>
          </a:xfrm>
          <a:prstGeom prst="rect">
            <a:avLst/>
          </a:prstGeom>
          <a:noFill/>
        </p:spPr>
        <p:txBody>
          <a:bodyPr wrap="square" rtlCol="0">
            <a:spAutoFit/>
          </a:bodyPr>
          <a:lstStyle/>
          <a:p>
            <a:r>
              <a:rPr lang="en-US" sz="2400" b="1" dirty="0"/>
              <a:t>Problem Statement - </a:t>
            </a:r>
            <a:r>
              <a:rPr lang="en-IN" sz="2400" b="1" dirty="0"/>
              <a:t>The Manufacturing Process Quality Control Agent</a:t>
            </a:r>
            <a:r>
              <a:rPr lang="en-IN" sz="2400" dirty="0"/>
              <a:t> </a:t>
            </a:r>
            <a:br>
              <a:rPr lang="en-IN" sz="2400" dirty="0"/>
            </a:b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47EDCAE-A510-42C9-9E69-3F19691B1A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AEB8AB-7145-A395-E5EE-DDA258AF46EA}"/>
              </a:ext>
            </a:extLst>
          </p:cNvPr>
          <p:cNvSpPr txBox="1"/>
          <p:nvPr/>
        </p:nvSpPr>
        <p:spPr>
          <a:xfrm>
            <a:off x="512064" y="1348800"/>
            <a:ext cx="10607040" cy="5509200"/>
          </a:xfrm>
          <a:prstGeom prst="rect">
            <a:avLst/>
          </a:prstGeom>
          <a:noFill/>
        </p:spPr>
        <p:txBody>
          <a:bodyPr wrap="square" rtlCol="0">
            <a:spAutoFit/>
          </a:bodyPr>
          <a:lstStyle/>
          <a:p>
            <a:pPr algn="just" fontAlgn="base"/>
            <a:r>
              <a:rPr lang="en-US" sz="2000" b="1" dirty="0">
                <a:latin typeface="Times New Roman" panose="02020603050405020304" pitchFamily="18" charset="0"/>
                <a:cs typeface="Times New Roman" panose="02020603050405020304" pitchFamily="18" charset="0"/>
              </a:rPr>
              <a:t>The Objective</a:t>
            </a:r>
          </a:p>
          <a:p>
            <a:pPr algn="just" fontAlgn="base"/>
            <a:r>
              <a:rPr lang="en-US" sz="1800" dirty="0">
                <a:latin typeface="Times New Roman" panose="02020603050405020304" pitchFamily="18" charset="0"/>
                <a:cs typeface="Times New Roman" panose="02020603050405020304" pitchFamily="18" charset="0"/>
              </a:rPr>
              <a:t>Build an AI-powered Manufacturing Process Quality Control Agent that continuously monitors production parameters and identifies potential quality issues in real time.</a:t>
            </a:r>
          </a:p>
          <a:p>
            <a:pPr algn="just" fontAlgn="base"/>
            <a:r>
              <a:rPr lang="en-US" sz="1800" dirty="0">
                <a:latin typeface="Times New Roman" panose="02020603050405020304" pitchFamily="18" charset="0"/>
                <a:cs typeface="Times New Roman" panose="02020603050405020304" pitchFamily="18" charset="0"/>
              </a:rPr>
              <a:t>1. Process Data Retrieval (RAG) :– Collect manufacturing data such as machine parameters, sensor readings, material properties, and inspection records.</a:t>
            </a:r>
          </a:p>
          <a:p>
            <a:pPr algn="just" fontAlgn="base"/>
            <a:r>
              <a:rPr lang="en-US" sz="1800" dirty="0">
                <a:latin typeface="Times New Roman" panose="02020603050405020304" pitchFamily="18" charset="0"/>
                <a:cs typeface="Times New Roman" panose="02020603050405020304" pitchFamily="18" charset="0"/>
              </a:rPr>
              <a:t>2. Defect Detection :– Identify abnormal patterns in manufacturing processes that could lead to defects.</a:t>
            </a:r>
          </a:p>
          <a:p>
            <a:pPr algn="just" fontAlgn="base"/>
            <a:r>
              <a:rPr lang="en-US" sz="1800" dirty="0">
                <a:latin typeface="Times New Roman" panose="02020603050405020304" pitchFamily="18" charset="0"/>
                <a:cs typeface="Times New Roman" panose="02020603050405020304" pitchFamily="18" charset="0"/>
              </a:rPr>
              <a:t>3. Quality Prediction :– Predict potential product defects before they occur.</a:t>
            </a:r>
          </a:p>
          <a:p>
            <a:pPr algn="just" fontAlgn="base"/>
            <a:r>
              <a:rPr lang="en-US" sz="1800" dirty="0">
                <a:latin typeface="Times New Roman" panose="02020603050405020304" pitchFamily="18" charset="0"/>
                <a:cs typeface="Times New Roman" panose="02020603050405020304" pitchFamily="18" charset="0"/>
              </a:rPr>
              <a:t>4. Process Optimization Recommendations :– Suggest adjustments to machine parameters or production conditions to maintain quality standards.</a:t>
            </a:r>
          </a:p>
          <a:p>
            <a:pPr algn="just" fontAlgn="base"/>
            <a:r>
              <a:rPr lang="en-US" sz="1800" dirty="0">
                <a:latin typeface="Times New Roman" panose="02020603050405020304" pitchFamily="18" charset="0"/>
                <a:cs typeface="Times New Roman" panose="02020603050405020304" pitchFamily="18" charset="0"/>
              </a:rPr>
              <a:t>5. Automated Quality Insights :– Generate clear reports for engineers and production managers.</a:t>
            </a:r>
          </a:p>
          <a:p>
            <a:pPr lvl="1" algn="just" fontAlgn="base"/>
            <a:r>
              <a:rPr lang="en-US" sz="1800" dirty="0">
                <a:latin typeface="Times New Roman" panose="02020603050405020304" pitchFamily="18" charset="0"/>
                <a:cs typeface="Times New Roman" panose="02020603050405020304" pitchFamily="18" charset="0"/>
              </a:rPr>
              <a:t>6. Multi-Agent System</a:t>
            </a:r>
          </a:p>
          <a:p>
            <a:pPr marL="355600" lvl="2" algn="just" fontAlgn="base"/>
            <a:r>
              <a:rPr lang="en-US" sz="1800" dirty="0">
                <a:latin typeface="Times New Roman" panose="02020603050405020304" pitchFamily="18" charset="0"/>
                <a:cs typeface="Times New Roman" panose="02020603050405020304" pitchFamily="18" charset="0"/>
              </a:rPr>
              <a:t>• Process Monitoring Agent – Collects real-time data from machines and sensors in the manufacturing process.</a:t>
            </a:r>
          </a:p>
          <a:p>
            <a:pPr marL="355600" lvl="2" algn="just" fontAlgn="base"/>
            <a:r>
              <a:rPr lang="en-US" sz="1800" dirty="0">
                <a:latin typeface="Times New Roman" panose="02020603050405020304" pitchFamily="18" charset="0"/>
                <a:cs typeface="Times New Roman" panose="02020603050405020304" pitchFamily="18" charset="0"/>
              </a:rPr>
              <a:t>• Quality Analysis Agent – Analyzes production data to identify anomalies or quality deviations.</a:t>
            </a:r>
          </a:p>
          <a:p>
            <a:pPr marL="355600" lvl="2" algn="just" fontAlgn="base"/>
            <a:r>
              <a:rPr lang="en-US" sz="1800" dirty="0">
                <a:latin typeface="Times New Roman" panose="02020603050405020304" pitchFamily="18" charset="0"/>
                <a:cs typeface="Times New Roman" panose="02020603050405020304" pitchFamily="18" charset="0"/>
              </a:rPr>
              <a:t>• Defect Prediction Agent – Predicts potential defects based on historical and real-time data.</a:t>
            </a:r>
          </a:p>
          <a:p>
            <a:pPr marL="355600" lvl="2" algn="just" fontAlgn="base"/>
            <a:r>
              <a:rPr lang="en-US" sz="1800" dirty="0">
                <a:latin typeface="Times New Roman" panose="02020603050405020304" pitchFamily="18" charset="0"/>
                <a:cs typeface="Times New Roman" panose="02020603050405020304" pitchFamily="18" charset="0"/>
              </a:rPr>
              <a:t>• Process Optimization Agent – Suggests corrective actions to improve product quality.</a:t>
            </a:r>
          </a:p>
          <a:p>
            <a:pPr algn="just" fontAlgn="base"/>
            <a:r>
              <a:rPr lang="en-US" sz="1800" dirty="0">
                <a:latin typeface="Times New Roman" panose="02020603050405020304" pitchFamily="18" charset="0"/>
                <a:cs typeface="Times New Roman" panose="02020603050405020304" pitchFamily="18" charset="0"/>
              </a:rPr>
              <a:t>7. Visualization Dashboard :-Display real-time production metrics, defect alerts, quality trends, and recommended corrective actions in a clear and interactive dashboard for production engineers.</a:t>
            </a:r>
          </a:p>
          <a:p>
            <a:pPr algn="just"/>
            <a:endParaRPr lang="en-IN" dirty="0">
              <a:latin typeface="Times New Roman" panose="02020603050405020304" pitchFamily="18" charset="0"/>
              <a:cs typeface="Times New Roman" panose="02020603050405020304" pitchFamily="18" charset="0"/>
            </a:endParaRPr>
          </a:p>
          <a:p>
            <a:pPr algn="just"/>
            <a:endParaRPr lang="en-IN" dirty="0"/>
          </a:p>
        </p:txBody>
      </p:sp>
      <p:sp>
        <p:nvSpPr>
          <p:cNvPr id="3" name="TextBox 2">
            <a:extLst>
              <a:ext uri="{FF2B5EF4-FFF2-40B4-BE49-F238E27FC236}">
                <a16:creationId xmlns:a16="http://schemas.microsoft.com/office/drawing/2014/main" id="{32BFD587-EAA4-97BE-72DA-0CFAB41B9878}"/>
              </a:ext>
            </a:extLst>
          </p:cNvPr>
          <p:cNvSpPr txBox="1"/>
          <p:nvPr/>
        </p:nvSpPr>
        <p:spPr>
          <a:xfrm>
            <a:off x="576072" y="704088"/>
            <a:ext cx="7214616" cy="830997"/>
          </a:xfrm>
          <a:prstGeom prst="rect">
            <a:avLst/>
          </a:prstGeom>
          <a:noFill/>
        </p:spPr>
        <p:txBody>
          <a:bodyPr wrap="square" rtlCol="0">
            <a:spAutoFit/>
          </a:bodyPr>
          <a:lstStyle/>
          <a:p>
            <a:r>
              <a:rPr lang="en-US" sz="2400" b="1" dirty="0"/>
              <a:t>Problem Statement - </a:t>
            </a:r>
            <a:r>
              <a:rPr lang="en-US" sz="2400" b="1" dirty="0">
                <a:latin typeface="Times New Roman" panose="02020603050405020304" pitchFamily="18" charset="0"/>
                <a:cs typeface="Times New Roman" panose="02020603050405020304" pitchFamily="18" charset="0"/>
              </a:rPr>
              <a:t>Quality Control Agent</a:t>
            </a:r>
            <a:endParaRPr lang="en-US" sz="2400" dirty="0">
              <a:latin typeface="Times New Roman" panose="02020603050405020304" pitchFamily="18" charset="0"/>
              <a:cs typeface="Times New Roman" panose="02020603050405020304" pitchFamily="18" charset="0"/>
            </a:endParaRPr>
          </a:p>
          <a:p>
            <a:endParaRPr lang="en-IN" sz="2400" b="1" dirty="0"/>
          </a:p>
        </p:txBody>
      </p:sp>
    </p:spTree>
    <p:extLst>
      <p:ext uri="{BB962C8B-B14F-4D97-AF65-F5344CB8AC3E}">
        <p14:creationId xmlns:p14="http://schemas.microsoft.com/office/powerpoint/2010/main" val="3232355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257193"/>
            <a:ext cx="10607040" cy="2215991"/>
          </a:xfrm>
          <a:prstGeom prst="rect">
            <a:avLst/>
          </a:prstGeom>
          <a:noFill/>
        </p:spPr>
        <p:txBody>
          <a:bodyPr wrap="square" rtlCol="0">
            <a:spAutoFit/>
          </a:bodyPr>
          <a:lstStyle/>
          <a:p>
            <a:pPr fontAlgn="base"/>
            <a:endParaRPr lang="en-US" b="1" dirty="0"/>
          </a:p>
          <a:p>
            <a:pPr fontAlgn="base"/>
            <a:r>
              <a:rPr lang="en-IN" sz="1800" b="1" dirty="0"/>
              <a:t>Tech Stack (Mandatory)</a:t>
            </a:r>
            <a:r>
              <a:rPr lang="en-IN" sz="1800" dirty="0"/>
              <a:t> </a:t>
            </a:r>
          </a:p>
          <a:p>
            <a:pPr fontAlgn="base"/>
            <a:endParaRPr lang="en-IN" sz="1800" dirty="0"/>
          </a:p>
          <a:p>
            <a:pPr fontAlgn="base"/>
            <a:r>
              <a:rPr lang="en-IN" sz="1800" dirty="0"/>
              <a:t>I used </a:t>
            </a:r>
            <a:r>
              <a:rPr lang="en-IN" sz="1800" dirty="0" err="1"/>
              <a:t>LangFlow</a:t>
            </a:r>
            <a:r>
              <a:rPr lang="en-IN" sz="1800" dirty="0"/>
              <a:t> + IBM watsonx.ai + IBM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0A3BDF-CCDD-4D28-ED9C-2B5168840282}"/>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851F52CC-1945-B090-DA61-972C9A1E4EA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a:t>
            </a:r>
            <a:r>
              <a:rPr lang="en-US" sz="2400" b="1" dirty="0" err="1">
                <a:sym typeface="Times New Roman"/>
              </a:rPr>
              <a:t>Watsonx.Ai</a:t>
            </a:r>
            <a:r>
              <a:rPr lang="en-US" sz="2400" b="1" dirty="0">
                <a:sym typeface="Times New Roman"/>
              </a:rPr>
              <a:t> PROJECT CREATED</a:t>
            </a:r>
            <a:endParaRPr sz="2400" b="1" dirty="0">
              <a:sym typeface="Times New Roman"/>
            </a:endParaRPr>
          </a:p>
        </p:txBody>
      </p:sp>
      <p:pic>
        <p:nvPicPr>
          <p:cNvPr id="5" name="Picture 4">
            <a:extLst>
              <a:ext uri="{FF2B5EF4-FFF2-40B4-BE49-F238E27FC236}">
                <a16:creationId xmlns:a16="http://schemas.microsoft.com/office/drawing/2014/main" id="{20BD87B4-CF35-0A73-AB59-18DEABF86319}"/>
              </a:ext>
            </a:extLst>
          </p:cNvPr>
          <p:cNvPicPr>
            <a:picLocks noChangeAspect="1"/>
          </p:cNvPicPr>
          <p:nvPr/>
        </p:nvPicPr>
        <p:blipFill>
          <a:blip r:embed="rId3"/>
          <a:stretch>
            <a:fillRect/>
          </a:stretch>
        </p:blipFill>
        <p:spPr>
          <a:xfrm>
            <a:off x="10160" y="1029987"/>
            <a:ext cx="12192000" cy="5427945"/>
          </a:xfrm>
          <a:prstGeom prst="rect">
            <a:avLst/>
          </a:prstGeom>
        </p:spPr>
      </p:pic>
    </p:spTree>
    <p:extLst>
      <p:ext uri="{BB962C8B-B14F-4D97-AF65-F5344CB8AC3E}">
        <p14:creationId xmlns:p14="http://schemas.microsoft.com/office/powerpoint/2010/main" val="3277964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62206579-D750-1DE2-5C48-BC88990068FD}"/>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CC640194-46C0-3280-8D76-09BE26EF9F20}"/>
              </a:ext>
            </a:extLst>
          </p:cNvPr>
          <p:cNvSpPr/>
          <p:nvPr/>
        </p:nvSpPr>
        <p:spPr>
          <a:xfrm>
            <a:off x="537590" y="323239"/>
            <a:ext cx="992721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IBM </a:t>
            </a:r>
            <a:r>
              <a:rPr lang="en-US" sz="2400" b="1" dirty="0" err="1">
                <a:sym typeface="Times New Roman"/>
              </a:rPr>
              <a:t>Watsonx.Ai</a:t>
            </a:r>
            <a:r>
              <a:rPr lang="en-US" sz="2400" b="1" dirty="0">
                <a:sym typeface="Times New Roman"/>
              </a:rPr>
              <a:t> knowledgebase entered in </a:t>
            </a:r>
            <a:r>
              <a:rPr lang="en-US" sz="2400" b="1" dirty="0" err="1">
                <a:sym typeface="Times New Roman"/>
              </a:rPr>
              <a:t>Langflow</a:t>
            </a:r>
            <a:endParaRPr sz="2400" b="1" dirty="0">
              <a:sym typeface="Times New Roman"/>
            </a:endParaRPr>
          </a:p>
        </p:txBody>
      </p:sp>
      <p:pic>
        <p:nvPicPr>
          <p:cNvPr id="4" name="Picture 3">
            <a:extLst>
              <a:ext uri="{FF2B5EF4-FFF2-40B4-BE49-F238E27FC236}">
                <a16:creationId xmlns:a16="http://schemas.microsoft.com/office/drawing/2014/main" id="{9079B989-2DE9-BB1D-DA43-6759F6A85816}"/>
              </a:ext>
            </a:extLst>
          </p:cNvPr>
          <p:cNvPicPr>
            <a:picLocks noChangeAspect="1"/>
          </p:cNvPicPr>
          <p:nvPr/>
        </p:nvPicPr>
        <p:blipFill>
          <a:blip r:embed="rId3"/>
          <a:stretch>
            <a:fillRect/>
          </a:stretch>
        </p:blipFill>
        <p:spPr>
          <a:xfrm>
            <a:off x="1721794" y="1234205"/>
            <a:ext cx="7529212" cy="5425910"/>
          </a:xfrm>
          <a:prstGeom prst="rect">
            <a:avLst/>
          </a:prstGeom>
        </p:spPr>
      </p:pic>
    </p:spTree>
    <p:extLst>
      <p:ext uri="{BB962C8B-B14F-4D97-AF65-F5344CB8AC3E}">
        <p14:creationId xmlns:p14="http://schemas.microsoft.com/office/powerpoint/2010/main" val="4253524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EB4AC23E-8EEC-6F90-ADFD-25808EEDB4F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3AE7048B-030A-75EA-2AE6-849732475786}"/>
              </a:ext>
            </a:extLst>
          </p:cNvPr>
          <p:cNvSpPr/>
          <p:nvPr/>
        </p:nvSpPr>
        <p:spPr>
          <a:xfrm>
            <a:off x="537590" y="323239"/>
            <a:ext cx="992721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Final </a:t>
            </a:r>
            <a:r>
              <a:rPr lang="en-US" sz="2400" b="1" dirty="0" err="1">
                <a:sym typeface="Times New Roman"/>
              </a:rPr>
              <a:t>Langflow</a:t>
            </a:r>
            <a:endParaRPr sz="2400" b="1" dirty="0">
              <a:sym typeface="Times New Roman"/>
            </a:endParaRPr>
          </a:p>
        </p:txBody>
      </p:sp>
      <p:pic>
        <p:nvPicPr>
          <p:cNvPr id="5" name="Picture 4">
            <a:extLst>
              <a:ext uri="{FF2B5EF4-FFF2-40B4-BE49-F238E27FC236}">
                <a16:creationId xmlns:a16="http://schemas.microsoft.com/office/drawing/2014/main" id="{00DAF29D-509E-54C8-813B-971D5767E054}"/>
              </a:ext>
            </a:extLst>
          </p:cNvPr>
          <p:cNvPicPr>
            <a:picLocks noChangeAspect="1"/>
          </p:cNvPicPr>
          <p:nvPr/>
        </p:nvPicPr>
        <p:blipFill>
          <a:blip r:embed="rId3"/>
          <a:stretch>
            <a:fillRect/>
          </a:stretch>
        </p:blipFill>
        <p:spPr>
          <a:xfrm>
            <a:off x="0" y="692474"/>
            <a:ext cx="12192000" cy="5473051"/>
          </a:xfrm>
          <a:prstGeom prst="rect">
            <a:avLst/>
          </a:prstGeom>
        </p:spPr>
      </p:pic>
    </p:spTree>
    <p:extLst>
      <p:ext uri="{BB962C8B-B14F-4D97-AF65-F5344CB8AC3E}">
        <p14:creationId xmlns:p14="http://schemas.microsoft.com/office/powerpoint/2010/main" val="1002737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0097FF2-515C-A632-5A6B-8432B0CD19A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7BCCB42-9188-E42A-48C3-B599CE962CD0}"/>
              </a:ext>
            </a:extLst>
          </p:cNvPr>
          <p:cNvSpPr/>
          <p:nvPr/>
        </p:nvSpPr>
        <p:spPr>
          <a:xfrm>
            <a:off x="537590" y="323239"/>
            <a:ext cx="9927210"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Test Case used in MFGQCAGENT</a:t>
            </a:r>
            <a:endParaRPr sz="2400" b="1" dirty="0">
              <a:sym typeface="Times New Roman"/>
            </a:endParaRPr>
          </a:p>
        </p:txBody>
      </p:sp>
      <p:pic>
        <p:nvPicPr>
          <p:cNvPr id="5" name="Picture 4">
            <a:extLst>
              <a:ext uri="{FF2B5EF4-FFF2-40B4-BE49-F238E27FC236}">
                <a16:creationId xmlns:a16="http://schemas.microsoft.com/office/drawing/2014/main" id="{4D96869B-BC5E-624C-EE21-DB6D46E551C3}"/>
              </a:ext>
            </a:extLst>
          </p:cNvPr>
          <p:cNvPicPr>
            <a:picLocks noChangeAspect="1"/>
          </p:cNvPicPr>
          <p:nvPr/>
        </p:nvPicPr>
        <p:blipFill>
          <a:blip r:embed="rId3"/>
          <a:stretch>
            <a:fillRect/>
          </a:stretch>
        </p:blipFill>
        <p:spPr>
          <a:xfrm>
            <a:off x="711200" y="874394"/>
            <a:ext cx="10312400" cy="5800725"/>
          </a:xfrm>
          <a:prstGeom prst="rect">
            <a:avLst/>
          </a:prstGeom>
        </p:spPr>
      </p:pic>
    </p:spTree>
    <p:extLst>
      <p:ext uri="{BB962C8B-B14F-4D97-AF65-F5344CB8AC3E}">
        <p14:creationId xmlns:p14="http://schemas.microsoft.com/office/powerpoint/2010/main" val="1216563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3B61F762-770A-66E2-3E5D-3F84F951482A}"/>
              </a:ext>
            </a:extLst>
          </p:cNvPr>
          <p:cNvPicPr>
            <a:picLocks noChangeAspect="1"/>
          </p:cNvPicPr>
          <p:nvPr/>
        </p:nvPicPr>
        <p:blipFill>
          <a:blip r:embed="rId3"/>
          <a:stretch>
            <a:fillRect/>
          </a:stretch>
        </p:blipFill>
        <p:spPr>
          <a:xfrm>
            <a:off x="741680" y="771747"/>
            <a:ext cx="10546080" cy="58861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39321"/>
          </a:xfrm>
          <a:prstGeom prst="rect">
            <a:avLst/>
          </a:prstGeom>
          <a:noFill/>
        </p:spPr>
        <p:txBody>
          <a:bodyPr wrap="square" rtlCol="0">
            <a:spAutoFit/>
          </a:bodyPr>
          <a:lstStyle/>
          <a:p>
            <a:pPr algn="just"/>
            <a:r>
              <a:rPr lang="en-IN" sz="1800" dirty="0"/>
              <a:t>The </a:t>
            </a:r>
            <a:r>
              <a:rPr lang="en-IN" sz="1800" b="1" dirty="0"/>
              <a:t>Agentic AI</a:t>
            </a:r>
            <a:r>
              <a:rPr lang="en-IN" sz="1800" dirty="0"/>
              <a:t> acts as the central intelligence of the Manufacturing QC Agent. It receives manufacturing data and user queries, retrieves relevant information from the knowledge base, and </a:t>
            </a:r>
            <a:r>
              <a:rPr lang="en-IN" sz="1800" dirty="0" err="1"/>
              <a:t>analyzes</a:t>
            </a:r>
            <a:r>
              <a:rPr lang="en-IN" sz="1800" dirty="0"/>
              <a:t> process conditions. The agent identifies quality deviations, predicts potential defects, and determines their possible causes. Based on the analysis, it recommends corrective actions to maintain product quality. It coordinates interactions between the RAG knowledge base, Granite LLM, and quality monitoring components. The agent also generates clear quality reports and insights for engineers. This enables proactive quality control and reduces the chances of defective products reaching customers.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Manufacturing Quality Control Agent efficiently. IBM Cloud enables a </a:t>
            </a:r>
            <a:r>
              <a:rPr lang="en-US" sz="1800" b="1" dirty="0"/>
              <a:t>reliable, secure, and scalable environment</a:t>
            </a:r>
            <a:r>
              <a:rPr lang="en-US" sz="1800" dirty="0"/>
              <a:t> for deploying the Manufacturing Quality Control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Manufacturing Quality Control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510520" cy="5442516"/>
          </a:xfrm>
          <a:prstGeom prst="rect">
            <a:avLst/>
          </a:prstGeom>
          <a:noFill/>
        </p:spPr>
        <p:txBody>
          <a:bodyPr wrap="square" rtlCol="0">
            <a:spAutoFit/>
          </a:bodyPr>
          <a:lstStyle/>
          <a:p>
            <a:pPr algn="just">
              <a:lnSpc>
                <a:spcPct val="150000"/>
              </a:lnSpc>
            </a:pPr>
            <a:r>
              <a:rPr lang="en-IN" sz="1800" dirty="0"/>
              <a:t>	The proposed </a:t>
            </a:r>
            <a:r>
              <a:rPr lang="en-IN" sz="1800" b="1" dirty="0"/>
              <a:t>Manufacturing QC Agent</a:t>
            </a:r>
            <a:r>
              <a:rPr lang="en-IN" sz="1800" dirty="0"/>
              <a:t> combines </a:t>
            </a:r>
            <a:r>
              <a:rPr lang="en-IN" sz="1800" b="1" dirty="0"/>
              <a:t>Agentic AI, Retrieval-Augmented Generation (RAG), and IBM Granite Models</a:t>
            </a:r>
            <a:r>
              <a:rPr lang="en-IN" sz="1800" dirty="0"/>
              <a:t> to provide intelligent quality control support in manufacturing environments. Unlike traditional quality inspection systems that only detect defects after production, this solution proactively </a:t>
            </a:r>
            <a:r>
              <a:rPr lang="en-IN" sz="1800" dirty="0" err="1"/>
              <a:t>analyzes</a:t>
            </a:r>
            <a:r>
              <a:rPr lang="en-IN" sz="1800" dirty="0"/>
              <a:t> process data and predicts potential quality issues before defective products are produced. </a:t>
            </a:r>
          </a:p>
          <a:p>
            <a:pPr algn="just">
              <a:lnSpc>
                <a:spcPct val="150000"/>
              </a:lnSpc>
            </a:pPr>
            <a:r>
              <a:rPr lang="en-IN" sz="1800" dirty="0"/>
              <a:t>	The integration of a knowledge base enables the system to retrieve historical defect cases and quality standards, resulting in more accurate and explainable recommendations. The Agentic AI autonomously performs quality analysis, defect prediction, root cause identification, and process optimization without requiring constant human intervention. </a:t>
            </a:r>
          </a:p>
          <a:p>
            <a:pPr algn="just">
              <a:lnSpc>
                <a:spcPct val="150000"/>
              </a:lnSpc>
            </a:pPr>
            <a:r>
              <a:rPr lang="en-IN" sz="1800" dirty="0"/>
              <a:t>	The system generates real-time quality insights and corrective actions for engineers through a conversational interface. By combining predictive analytics, knowledge retrieval, and autonomous decision-making in a single platform, the project demonstrates a practical application of Generative AI for smart manufacturing and Industry 4.0 environments.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619760" y="1153712"/>
            <a:ext cx="1076960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https://github.com/djrocks85/FDP-IBM-BVM-DHIRENKUMAR-JOSHI/upload/main</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62000" y="1221715"/>
            <a:ext cx="10414000" cy="4843805"/>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The Manufacturing QC Agent can be further enhanced by integrating real-time IoT sensors and machine data from actual production lines for continuous monitoring. </a:t>
            </a:r>
          </a:p>
          <a:p>
            <a:pPr marL="0" marR="0" lvl="0" indent="0" algn="just" rtl="0">
              <a:spcBef>
                <a:spcPts val="0"/>
              </a:spcBef>
              <a:spcAft>
                <a:spcPts val="0"/>
              </a:spcAft>
              <a:buClr>
                <a:srgbClr val="2B3541"/>
              </a:buClr>
              <a:buSzPts val="1850"/>
              <a:buFont typeface="Times New Roman"/>
              <a:buNone/>
            </a:pPr>
            <a:endParaRPr lang="en-US" sz="1800" i="0" u="none" strike="noStrike" cap="none" dirty="0">
              <a:solidFill>
                <a:srgbClr val="2B3541"/>
              </a:solidFill>
              <a:latin typeface="+mn-lt"/>
              <a:ea typeface="Times New Roman"/>
              <a:cs typeface="Times New Roman"/>
              <a:sym typeface="Times New Roman"/>
            </a:endParaRPr>
          </a:p>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Advanced machine learning models can be incorporated to improve defect prediction accuracy using large-scale historical manufacturing data. </a:t>
            </a:r>
          </a:p>
          <a:p>
            <a:pPr marL="0" marR="0" lvl="0" indent="0" algn="just" rtl="0">
              <a:spcBef>
                <a:spcPts val="0"/>
              </a:spcBef>
              <a:spcAft>
                <a:spcPts val="0"/>
              </a:spcAft>
              <a:buClr>
                <a:srgbClr val="2B3541"/>
              </a:buClr>
              <a:buSzPts val="1850"/>
              <a:buFont typeface="Times New Roman"/>
              <a:buNone/>
            </a:pPr>
            <a:endParaRPr lang="en-US" sz="1800" i="0" u="none" strike="noStrike" cap="none" dirty="0">
              <a:solidFill>
                <a:srgbClr val="2B3541"/>
              </a:solidFill>
              <a:latin typeface="+mn-lt"/>
              <a:ea typeface="Times New Roman"/>
              <a:cs typeface="Times New Roman"/>
              <a:sym typeface="Times New Roman"/>
            </a:endParaRPr>
          </a:p>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The system can be connected with ERP and MES platforms to enable automated quality management across the entire production process. </a:t>
            </a:r>
          </a:p>
          <a:p>
            <a:pPr marL="0" marR="0" lvl="0" indent="0" algn="just" rtl="0">
              <a:spcBef>
                <a:spcPts val="0"/>
              </a:spcBef>
              <a:spcAft>
                <a:spcPts val="0"/>
              </a:spcAft>
              <a:buClr>
                <a:srgbClr val="2B3541"/>
              </a:buClr>
              <a:buSzPts val="1850"/>
              <a:buFont typeface="Times New Roman"/>
              <a:buNone/>
            </a:pPr>
            <a:endParaRPr lang="en-US" sz="1800" i="0" u="none" strike="noStrike" cap="none" dirty="0">
              <a:solidFill>
                <a:srgbClr val="2B3541"/>
              </a:solidFill>
              <a:latin typeface="+mn-lt"/>
              <a:ea typeface="Times New Roman"/>
              <a:cs typeface="Times New Roman"/>
              <a:sym typeface="Times New Roman"/>
            </a:endParaRPr>
          </a:p>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Future versions may support computer vision-based inspection using cameras to detect surface defects automatically. Predictive maintenance features can also be added to identify machine failures before they occur. </a:t>
            </a:r>
          </a:p>
          <a:p>
            <a:pPr marL="0" marR="0" lvl="0" indent="0" algn="just" rtl="0">
              <a:spcBef>
                <a:spcPts val="0"/>
              </a:spcBef>
              <a:spcAft>
                <a:spcPts val="0"/>
              </a:spcAft>
              <a:buClr>
                <a:srgbClr val="2B3541"/>
              </a:buClr>
              <a:buSzPts val="1850"/>
              <a:buFont typeface="Times New Roman"/>
              <a:buNone/>
            </a:pPr>
            <a:endParaRPr lang="en-US" sz="1800" dirty="0">
              <a:solidFill>
                <a:srgbClr val="2B3541"/>
              </a:solidFill>
              <a:latin typeface="+mn-lt"/>
              <a:ea typeface="Times New Roman"/>
              <a:cs typeface="Times New Roman"/>
              <a:sym typeface="Times New Roman"/>
            </a:endParaRPr>
          </a:p>
          <a:p>
            <a:pPr marL="0" marR="0" lvl="0" indent="0" algn="just" rtl="0">
              <a:spcBef>
                <a:spcPts val="0"/>
              </a:spcBef>
              <a:spcAft>
                <a:spcPts val="0"/>
              </a:spcAft>
              <a:buClr>
                <a:srgbClr val="2B3541"/>
              </a:buClr>
              <a:buSzPts val="1850"/>
              <a:buFont typeface="Times New Roman"/>
              <a:buNone/>
            </a:pPr>
            <a:r>
              <a:rPr lang="en-US" sz="1800" i="0" u="none" strike="noStrike" cap="none" dirty="0">
                <a:solidFill>
                  <a:srgbClr val="2B3541"/>
                </a:solidFill>
                <a:latin typeface="+mn-lt"/>
                <a:ea typeface="Times New Roman"/>
                <a:cs typeface="Times New Roman"/>
                <a:sym typeface="Times New Roman"/>
              </a:rPr>
              <a:t>The dashboard can be enhanced with real-time analytics, trend forecasting, and automated alert notifications. Multi-plant deployment and cloud-based monitoring can enable centralized quality control across different manufacturing facilities. These enhancements will help industries move towards fully autonomous and intelligent smart manufacturing systems.</a:t>
            </a:r>
            <a:endParaRPr sz="180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1315</TotalTime>
  <Words>1452</Words>
  <Application>Microsoft Office PowerPoint</Application>
  <PresentationFormat>Widescreen</PresentationFormat>
  <Paragraphs>117</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Dhiren Joshi</cp:lastModifiedBy>
  <cp:revision>23</cp:revision>
  <dcterms:created xsi:type="dcterms:W3CDTF">2025-07-08T05:06:56Z</dcterms:created>
  <dcterms:modified xsi:type="dcterms:W3CDTF">2026-06-11T22:30:32Z</dcterms:modified>
</cp:coreProperties>
</file>